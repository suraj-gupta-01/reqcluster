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566928" cy="56692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FFFFFF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61210"/>
                </a:solidFill>
                <a:latin typeface="Segoe U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8600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Req</a:t>
            </a:r>
            <a:r>
              <a:rPr sz="3000" b="1">
                <a:solidFill>
                  <a:srgbClr val="2FBCAA"/>
                </a:solidFill>
                <a:latin typeface="Segoe UI"/>
              </a:rPr>
              <a:t>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5468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CF2F1"/>
                </a:solidFill>
                <a:latin typeface="Segoe UI"/>
              </a:rPr>
              <a:t>Requirements intelligence for systems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1148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7A4"/>
                </a:solidFill>
                <a:latin typeface="Segoe UI"/>
              </a:rPr>
              <a:t>Automatically group, map dependencies between, and explain thousands of engineering requirements - in minutes, not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5212080"/>
            <a:ext cx="10515600" cy="1828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440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HONEYWELL HACKATHON</a:t>
            </a:r>
            <a:r>
              <a:rPr sz="1100" b="0">
                <a:solidFill>
                  <a:srgbClr val="9AA7A4"/>
                </a:solidFill>
                <a:latin typeface="Segoe UI"/>
              </a:rPr>
              <a:t>    DP5 · Grouping Functionally Related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89788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897880"/>
            <a:ext cx="6217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SBERT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9344" y="5897880"/>
            <a:ext cx="537667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9344" y="5897880"/>
            <a:ext cx="5376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UMAP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93315" y="5897880"/>
            <a:ext cx="79004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93315" y="5897880"/>
            <a:ext cx="79004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HDBSCAN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9660" y="5897880"/>
            <a:ext cx="87416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9660" y="5897880"/>
            <a:ext cx="87416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c-TF-IDF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0131" y="5897880"/>
            <a:ext cx="154716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0131" y="5897880"/>
            <a:ext cx="15471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Dependency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897880"/>
            <a:ext cx="11265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5897880"/>
            <a:ext cx="11265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On-prem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6444" y="5897880"/>
            <a:ext cx="11265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16444" y="5897880"/>
            <a:ext cx="11265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MBSE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Requirements pile up faster than humans can organize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A modern aerospace or automotive program carries 500 to 50,000 requirements, written by many teams over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286000"/>
            <a:ext cx="3401568" cy="24688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COST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288950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Manual grouping blocks downstream design, ICD production, and verification planning. It is the slow first step before real work begins.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286000"/>
            <a:ext cx="3401568" cy="24688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5152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743200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COST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0358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Subjectivity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456432"/>
            <a:ext cx="288950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Two analysts produce materially different cluster structures from the same set, so organizational consistency erodes review to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2286000"/>
            <a:ext cx="3401568" cy="24688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3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743200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Segoe UI"/>
              </a:rPr>
              <a:t>COST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0358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Incompleteness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3456432"/>
            <a:ext cx="288950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Hidden cross-cutting dependencies are missed by hand. Indirect relationships only surface through systematic similarity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983480"/>
            <a:ext cx="3401568" cy="12344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529437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43F5E"/>
                </a:solidFill>
                <a:latin typeface="Segoe UI"/>
              </a:rPr>
              <a:t>8-12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550468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to cluster 500 requirements by hand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983480"/>
            <a:ext cx="3401568" cy="12344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29437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59E0B"/>
                </a:solidFill>
                <a:latin typeface="Segoe UI"/>
              </a:rPr>
              <a:t>~60%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50468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analyst agreement (Cohen's kappa)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36992" y="4983480"/>
            <a:ext cx="3401568" cy="12344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529437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FBCAA"/>
                </a:solidFill>
                <a:latin typeface="Segoe UI"/>
              </a:rPr>
              <a:t>50,000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550468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requirements in a large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An end-to-end, explainable clustering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Upload a requirements file and ReqCluster understands meaning, groups by function, and visualizes the result - fully automated.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468880"/>
            <a:ext cx="1627632" cy="105156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596896"/>
            <a:ext cx="54864" cy="795527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468880"/>
            <a:ext cx="14447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Ingest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9AA7A4"/>
                </a:solidFill>
                <a:latin typeface="Segoe UI"/>
              </a:rPr>
              <a:t>CSV / 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8841" y="2468880"/>
            <a:ext cx="1627632" cy="105156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18841" y="2596896"/>
            <a:ext cx="54864" cy="795527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8569" y="2468880"/>
            <a:ext cx="14447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SBERT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9AA7A4"/>
                </a:solidFill>
                <a:latin typeface="Segoe UI"/>
              </a:rPr>
              <a:t>384-d meaning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994660"/>
            <a:ext cx="149961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96435" y="2468880"/>
            <a:ext cx="1627632" cy="105156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6435" y="2596896"/>
            <a:ext cx="54864" cy="795527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6163" y="2468880"/>
            <a:ext cx="14447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UMAP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9AA7A4"/>
                </a:solidFill>
                <a:latin typeface="Segoe UI"/>
              </a:rPr>
              <a:t>reduce dims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46473" y="2994660"/>
            <a:ext cx="149962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4028" y="2468880"/>
            <a:ext cx="1627632" cy="105156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4028" y="2596896"/>
            <a:ext cx="54864" cy="795527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3756" y="2468880"/>
            <a:ext cx="14447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HDBSCAN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9AA7A4"/>
                </a:solidFill>
                <a:latin typeface="Segoe UI"/>
              </a:rPr>
              <a:t>density clusters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24067" y="2994660"/>
            <a:ext cx="149961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1622" y="2468880"/>
            <a:ext cx="1627632" cy="105156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1622" y="2596896"/>
            <a:ext cx="54864" cy="79552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1350" y="2468880"/>
            <a:ext cx="14447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c-TF-IDF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9AA7A4"/>
                </a:solidFill>
                <a:latin typeface="Segoe UI"/>
              </a:rPr>
              <a:t>auto labels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01660" y="2994660"/>
            <a:ext cx="149962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29216" y="2468880"/>
            <a:ext cx="1627632" cy="105156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29216" y="2596896"/>
            <a:ext cx="54864" cy="795527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468880"/>
            <a:ext cx="144475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Graph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9AA7A4"/>
                </a:solidFill>
                <a:latin typeface="Segoe UI"/>
              </a:rPr>
              <a:t>similarity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79254" y="2994660"/>
            <a:ext cx="149962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3794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9AA7A4"/>
                </a:solidFill>
                <a:latin typeface="Segoe UI"/>
              </a:rPr>
              <a:t>All deterministic. No black box. No API keys required - it runs fully offline.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4389120"/>
            <a:ext cx="3401568" cy="17830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97280" y="47000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8463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Interactive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66944"/>
            <a:ext cx="288950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Scatter, similarity graph, searchable tables, and per-cluster detail - explore 50k points in the browser.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4389120"/>
            <a:ext cx="3401568" cy="17830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45152" y="47000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48463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Human in the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5266944"/>
            <a:ext cx="288950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Analysts approve, correct, and reassign. Every correction teaches the next clustering pass.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36992" y="4389120"/>
            <a:ext cx="3401568" cy="17830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93023" y="47000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3" y="48463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Standards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3" y="5266944"/>
            <a:ext cx="2889504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One click to ReqIF, SysML XMI, and Jama - results flow straight into existing RE toolchains.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DP5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Exactly what the brief asks for - and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The Honeywell DP5 problem statement maps one-to-one onto what ReqCluster produces.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286000"/>
            <a:ext cx="3401568" cy="283464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DELIVERABLE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Logical grouping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288950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Requirements organized into clusters by functional similarity using SBERT embeddings and density-based clustering.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286000"/>
            <a:ext cx="3401568" cy="283464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5152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743200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Segoe UI"/>
              </a:rPr>
              <a:t>DELIVERABLE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0358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Dependency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456432"/>
            <a:ext cx="288950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Hierarchical and sequential relationships inferred from each requirement's inputs, pre-conditions, and outputs - rendered as an interactive 2D/3D graph.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2286000"/>
            <a:ext cx="3401568" cy="283464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3023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743200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DELIVERABLE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035808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Rationale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3" y="3456432"/>
            <a:ext cx="288950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A generated explanation of why each requirement belongs to its group, plus a justification for every dependency edge.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349240"/>
            <a:ext cx="10497312" cy="868680"/>
          </a:xfrm>
          <a:prstGeom prst="roundRect">
            <a:avLst>
              <a:gd name="adj" fmla="val 10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492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FBCAA"/>
                </a:solidFill>
                <a:latin typeface="Segoe UI"/>
              </a:rPr>
              <a:t>On-prem LLM ready.  </a:t>
            </a:r>
            <a:r>
              <a:rPr sz="1250" b="0">
                <a:solidFill>
                  <a:srgbClr val="9AA7A4"/>
                </a:solidFill>
                <a:latin typeface="Segoe UI"/>
              </a:rPr>
              <a:t>Summaries and rationales run on a local open-source model (Qwen via Ollama) - no data leaves your network. Scales to 500 requirements across 150+ pages.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From sentences to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Each stage is a clean, testable step - the same proven recipe behind modern topic modeling.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377440"/>
            <a:ext cx="5084064" cy="15544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68833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27248"/>
            <a:ext cx="4626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SBERT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4787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Every requirement becomes a 384-number vector. Similar meaning - similar vector.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77440"/>
            <a:ext cx="5084064" cy="15544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7376" y="268833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83464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38BDF8"/>
                </a:solidFill>
                <a:latin typeface="Segoe U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127248"/>
            <a:ext cx="4626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UMAP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54787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384 dimensions shrink to 10 for clustering and 2 for the plot, keeping neighbors together.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114800"/>
            <a:ext cx="5084064" cy="15544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4256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64608"/>
            <a:ext cx="4626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HDBSCAN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85232"/>
            <a:ext cx="4572000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Finds dense groups automatically - no preset cluster count - and flags outliers as noise.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114800"/>
            <a:ext cx="5084064" cy="15544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37376" y="44256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457200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864608"/>
            <a:ext cx="4626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c-TF-IDF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5285232"/>
            <a:ext cx="4572000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Picks the words that make each cluster distinctive, so every group gets a clear name.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A7A4"/>
                </a:solidFill>
                <a:latin typeface="Segoe UI"/>
              </a:rPr>
              <a:t>Cosine similarity then links related requirements into a network graph across cluster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A clean three-tier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Separation of concerns keeps each layer independently testable and swappable.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331720"/>
            <a:ext cx="10497312" cy="109728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478024"/>
            <a:ext cx="64008" cy="804672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96312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2F1"/>
                </a:solidFill>
                <a:latin typeface="Segoe UI"/>
              </a:rPr>
              <a:t>Application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FBCAA"/>
                </a:solidFill>
                <a:latin typeface="Segoe UI"/>
              </a:rPr>
              <a:t>React · Vite · Tailwind · Plotly (WebGL)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31720"/>
            <a:ext cx="5669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Upload · Overview · Scatter · Graph · Dependency Tree · Review Queue ·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3429000"/>
            <a:ext cx="0" cy="201168"/>
          </a:xfrm>
          <a:prstGeom prst="line">
            <a:avLst/>
          </a:prstGeom>
          <a:ln w="19050">
            <a:solidFill>
              <a:srgbClr val="6B7876">
                <a:alpha val="6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" y="3630168"/>
            <a:ext cx="10497312" cy="109728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776472"/>
            <a:ext cx="64008" cy="80467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794759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2F1"/>
                </a:solidFill>
                <a:latin typeface="Segoe UI"/>
              </a:rPr>
              <a:t>API + ML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38BDF8"/>
                </a:solidFill>
                <a:latin typeface="Segoe UI"/>
              </a:rPr>
              <a:t>FastAPI · SBERT · UMAP · HDBSCAN · c-TF-IDF · LLM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30168"/>
            <a:ext cx="5669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REST endpoints · async jobs · pipeline orchestration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9904" y="4727448"/>
            <a:ext cx="0" cy="201168"/>
          </a:xfrm>
          <a:prstGeom prst="line">
            <a:avLst/>
          </a:prstGeom>
          <a:ln w="19050">
            <a:solidFill>
              <a:srgbClr val="6B7876">
                <a:alpha val="6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" y="4928616"/>
            <a:ext cx="10497312" cy="109728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5074920"/>
            <a:ext cx="64008" cy="8046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093207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2F1"/>
                </a:solidFill>
                <a:latin typeface="Segoe UI"/>
              </a:rPr>
              <a:t>Data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59E0B"/>
                </a:solidFill>
                <a:latin typeface="Segoe UI"/>
              </a:rPr>
              <a:t>PostgreSQL / SQLite · Redis cache · embedding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928616"/>
            <a:ext cx="5669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Sessions · requirements · clusters · graphs ·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2636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876"/>
                </a:solidFill>
                <a:latin typeface="Segoe UI"/>
              </a:rPr>
              <a:t>Offline-first · deterministic seeds · Docker + CI · 133 automated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HUMAN IN THE LOOP + ACTIVE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Experts correct it once, the model learns forever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Corrections are not throwaway edits - they become constraints that reshape the next clustering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14600"/>
            <a:ext cx="1874519" cy="96012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642616"/>
            <a:ext cx="54864" cy="70408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514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Cluster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1518" y="2514600"/>
            <a:ext cx="1874519" cy="96012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01518" y="2642616"/>
            <a:ext cx="54864" cy="70408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1246" y="2514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Review &amp; correct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15768" y="2994660"/>
            <a:ext cx="285750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1788" y="2514600"/>
            <a:ext cx="1874519" cy="96012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1788" y="2642616"/>
            <a:ext cx="54864" cy="7040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1516" y="2514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Constraints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76038" y="2994660"/>
            <a:ext cx="285750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22058" y="2514600"/>
            <a:ext cx="1874519" cy="96012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22058" y="2642616"/>
            <a:ext cx="54864" cy="70408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1786" y="2514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Re-cluster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6307" y="2994660"/>
            <a:ext cx="285751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82328" y="2514600"/>
            <a:ext cx="1874519" cy="960120"/>
          </a:xfrm>
          <a:prstGeom prst="roundRect">
            <a:avLst>
              <a:gd name="adj" fmla="val 16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82328" y="2642616"/>
            <a:ext cx="54864" cy="70408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5" y="2514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2F1"/>
                </a:solidFill>
                <a:latin typeface="Segoe UI"/>
              </a:rPr>
              <a:t>Quality improves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96578" y="2994660"/>
            <a:ext cx="285750" cy="0"/>
          </a:xfrm>
          <a:prstGeom prst="line">
            <a:avLst/>
          </a:prstGeom>
          <a:ln w="22225">
            <a:solidFill>
              <a:srgbClr val="2FBCAA">
                <a:alpha val="70000"/>
              </a:srgbClr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1248" y="3931920"/>
            <a:ext cx="3401568" cy="21945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97280" y="42428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891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Must / cannot-link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09744"/>
            <a:ext cx="288950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Each manual reassignment generates must-link and cannot-link pairs that the clusterer must honor.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931920"/>
            <a:ext cx="3401568" cy="21945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45152" y="42428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3891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Uncertainty sampling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4809744"/>
            <a:ext cx="288950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The least-confident assignments surface first, so review effort lands exactly where it matters.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6992" y="3931920"/>
            <a:ext cx="3401568" cy="219456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93023" y="42428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3023" y="43891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Quality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4809744"/>
            <a:ext cx="2889504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Silhouette and noise rate are recorded each iteration - you watch clustering get measurably better.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Results flow into the tools engineers already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Not a dead end - tool-importable exports in the standard requirements and model formats.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377440"/>
            <a:ext cx="5084064" cy="1627632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568" y="2670048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798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2F1"/>
                </a:solidFill>
                <a:latin typeface="Segoe UI"/>
              </a:rPr>
              <a:t>ReqIF 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218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7A4"/>
                </a:solidFill>
                <a:latin typeface="Segoe UI"/>
              </a:rPr>
              <a:t>OMG XML with cluster-grouped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566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76"/>
                </a:solidFill>
                <a:latin typeface="Segoe UI"/>
              </a:rPr>
              <a:t>Imports into  </a:t>
            </a:r>
            <a:r>
              <a:rPr sz="1000" b="1">
                <a:solidFill>
                  <a:srgbClr val="2FBCAA"/>
                </a:solidFill>
                <a:latin typeface="Segoe UI"/>
              </a:rPr>
              <a:t>DOORS Next · ReqView · Polarion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77440"/>
            <a:ext cx="5084064" cy="1627632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55664" y="2670048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798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2F1"/>
                </a:solidFill>
                <a:latin typeface="Segoe UI"/>
              </a:rPr>
              <a:t>SysML / XMI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218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7A4"/>
                </a:solidFill>
                <a:latin typeface="Segoe UI"/>
              </a:rPr>
              <a:t>UML 2.5 model, clusters as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566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76"/>
                </a:solidFill>
                <a:latin typeface="Segoe UI"/>
              </a:rPr>
              <a:t>Imports into  </a:t>
            </a:r>
            <a:r>
              <a:rPr sz="1000" b="1">
                <a:solidFill>
                  <a:srgbClr val="38BDF8"/>
                </a:solidFill>
                <a:latin typeface="Segoe UI"/>
              </a:rPr>
              <a:t>Papyrus · MagicDraw / Cameo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206240"/>
            <a:ext cx="5084064" cy="1627632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5568" y="4498848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6268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2F1"/>
                </a:solidFill>
                <a:latin typeface="Segoe UI"/>
              </a:rPr>
              <a:t>Jama 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047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7A4"/>
                </a:solidFill>
                <a:latin typeface="Segoe UI"/>
              </a:rPr>
              <a:t>REST item + relationship bundle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3949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76"/>
                </a:solidFill>
                <a:latin typeface="Segoe UI"/>
              </a:rPr>
              <a:t>Imports into  </a:t>
            </a:r>
            <a:r>
              <a:rPr sz="1000" b="1">
                <a:solidFill>
                  <a:srgbClr val="F59E0B"/>
                </a:solidFill>
                <a:latin typeface="Segoe UI"/>
              </a:rPr>
              <a:t>Jama (upload or offline JSON)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206240"/>
            <a:ext cx="5084064" cy="1627632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55664" y="4498848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46268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2F1"/>
                </a:solidFill>
                <a:latin typeface="Segoe UI"/>
              </a:rPr>
              <a:t>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047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7A4"/>
                </a:solidFill>
                <a:latin typeface="Segoe UI"/>
              </a:rPr>
              <a:t>Flat table with cluster assignments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3949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876"/>
                </a:solidFill>
                <a:latin typeface="Segoe UI"/>
              </a:rPr>
              <a:t>Imports into  </a:t>
            </a:r>
            <a:r>
              <a:rPr sz="1000" b="1">
                <a:solidFill>
                  <a:srgbClr val="22C55E"/>
                </a:solidFill>
                <a:latin typeface="Segoe UI"/>
              </a:rPr>
              <a:t>Excel · Sheets · quick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BUILT TO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Engineered for 35k-50k+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The architecture targets real program sizes, not just a demo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331720"/>
            <a:ext cx="2505456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42615"/>
            <a:ext cx="2048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FBCAA"/>
                </a:solidFill>
                <a:latin typeface="Segoe UI"/>
              </a:rPr>
              <a:t>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218687"/>
            <a:ext cx="2048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requirements per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2331720"/>
            <a:ext cx="2505456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3" y="2642615"/>
            <a:ext cx="2048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8BDF8"/>
                </a:solidFill>
                <a:latin typeface="Segoe UI"/>
              </a:rPr>
              <a:t>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218687"/>
            <a:ext cx="2048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on CPU, end to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2505456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42615"/>
            <a:ext cx="2048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2C55E"/>
                </a:solidFill>
                <a:latin typeface="Segoe UI"/>
              </a:rPr>
              <a:t>&lt; 90s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218687"/>
            <a:ext cx="2048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on GPU (cuML auto-detect)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2331720"/>
            <a:ext cx="2432304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2642615"/>
            <a:ext cx="19751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59E0B"/>
                </a:solidFill>
                <a:latin typeface="Segoe UI"/>
              </a:rPr>
              <a:t>O(N log 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218687"/>
            <a:ext cx="1975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ANN similarity 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160520"/>
            <a:ext cx="3401568" cy="20116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44714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177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Parallel + adaptive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38344"/>
            <a:ext cx="288950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Multi-core UMAP and HDBSCAN; deterministic for small sets, fast-approximate for large ones; GPU when present.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160520"/>
            <a:ext cx="3401568" cy="20116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44714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6177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Production datastore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038344"/>
            <a:ext cx="288950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PostgreSQL with connection pooling and indexed hot paths; Redis-backed incremental embedding cache.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4160520"/>
            <a:ext cx="3401568" cy="2011680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3023" y="447141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3" y="4617720"/>
            <a:ext cx="29443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Async 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5038344"/>
            <a:ext cx="288950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Clustering runs as a background job with live progress polling, so the UI never blocks on long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WHY REQCLUSTER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What the alternatives can't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Existing tools each solve a slice. ReqCluster is the end-to-end, explainable, supervised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286000"/>
            <a:ext cx="3364992" cy="187451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DOORS / Jama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63824"/>
            <a:ext cx="2852928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Store and version requirements - but offer no intelligent clustering.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86000"/>
            <a:ext cx="3364992" cy="187451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152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74320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k-means / LDA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163824"/>
            <a:ext cx="2852928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Need a preset cluster count and ignore domain-specific meaning.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2286000"/>
            <a:ext cx="3364992" cy="1874519"/>
          </a:xfrm>
          <a:prstGeom prst="roundRect">
            <a:avLst>
              <a:gd name="adj" fmla="val 7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3" y="259689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2743200"/>
            <a:ext cx="2907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F2F1"/>
                </a:solidFill>
                <a:latin typeface="Segoe UI"/>
              </a:rPr>
              <a:t>ChatGPT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3163824"/>
            <a:ext cx="2852928" cy="813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9AA7A4"/>
                </a:solidFill>
                <a:latin typeface="Segoe UI"/>
              </a:rPr>
              <a:t>Non-deterministic, manual, and disconnected from RE workflows.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343400"/>
            <a:ext cx="10497312" cy="1783080"/>
          </a:xfrm>
          <a:prstGeom prst="roundRect">
            <a:avLst>
              <a:gd name="adj" fmla="val 9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526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FB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26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FBCAA"/>
                </a:solidFill>
                <a:latin typeface="Segoe UI"/>
              </a:rPr>
              <a:t>ReqCluster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ECF2F1"/>
                </a:solidFill>
                <a:latin typeface="Segoe UI"/>
              </a:rPr>
              <a:t>Domain-aware embeddings, automatic cluster discovery, deterministic explainable labels, a human-supervised correction loop, and tool-importable MBSE export - in one offline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FBCAA"/>
                </a:solidFill>
                <a:latin typeface="Segoe UI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CF2F1"/>
                </a:solidFill>
                <a:latin typeface="Segoe UI"/>
              </a:rPr>
              <a:t>Measurable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7A4"/>
                </a:solidFill>
                <a:latin typeface="Segoe UI"/>
              </a:rPr>
              <a:t>From days of manual effort to a few automated minutes, with results you can defend.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37744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8833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FBCAA"/>
                </a:solidFill>
                <a:latin typeface="Segoe UI"/>
              </a:rPr>
              <a:t>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35584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less time (8-12 hrs to under 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37744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68833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8BDF8"/>
                </a:solidFill>
                <a:latin typeface="Segoe UI"/>
              </a:rPr>
              <a:t>kappa - 1.0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35584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deterministic, repeatable grouping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237744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268833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2C55E"/>
                </a:solidFill>
                <a:latin typeface="Segoe UI"/>
              </a:rPr>
              <a:t>133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35584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automated tests, green in 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2976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60857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59E0B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527608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API keys - runs fully offline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2976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60857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FBCAA"/>
                </a:solidFill>
                <a:latin typeface="Segoe UI"/>
              </a:rPr>
              <a:t>1-click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527608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Docker compose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297680"/>
            <a:ext cx="3401568" cy="169164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4608576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8BDF8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276088"/>
            <a:ext cx="2944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AA7A4"/>
                </a:solidFill>
                <a:latin typeface="Segoe UI"/>
              </a:rPr>
              <a:t>MBSE / RE export formats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gradFill rotWithShape="1">
            <a:gsLst>
              <a:gs pos="0">
                <a:srgbClr val="0B100F"/>
              </a:gs>
              <a:gs pos="100000">
                <a:srgbClr val="070A0A"/>
              </a:gs>
            </a:gsLst>
            <a:lin scaled="0" ang="17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2194560"/>
            <a:ext cx="6583680" cy="5486400"/>
          </a:xfrm>
          <a:prstGeom prst="ellipse">
            <a:avLst/>
          </a:prstGeom>
          <a:solidFill>
            <a:srgbClr val="2FBCA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3840480"/>
            <a:ext cx="5486400" cy="4572000"/>
          </a:xfrm>
          <a:prstGeom prst="ellipse">
            <a:avLst/>
          </a:prstGeom>
          <a:solidFill>
            <a:srgbClr val="0D8175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2FBCAA"/>
                </a:solidFill>
                <a:latin typeface="Segoe UI"/>
              </a:rPr>
              <a:t>ReqCluster</a:t>
            </a:r>
            <a:r>
              <a:rPr sz="950" b="0">
                <a:solidFill>
                  <a:srgbClr val="6B7876"/>
                </a:solidFill>
                <a:latin typeface="Segoe UI"/>
              </a:rPr>
              <a:t>   Honeywell Hackathon · DP5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876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BCAA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ECF2F1"/>
                </a:solidFill>
                <a:latin typeface="Segoe UI"/>
              </a:rPr>
              <a:t>ReqCluster turns a requirements backlog into a structured, explainable, engineer-ready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7A4"/>
                </a:solidFill>
                <a:latin typeface="Segoe UI"/>
              </a:rPr>
              <a:t>Automated · explainable · human-supervised · offline-first · standards-ready.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526280"/>
            <a:ext cx="10497312" cy="1371600"/>
          </a:xfrm>
          <a:prstGeom prst="roundRect">
            <a:avLst>
              <a:gd name="adj" fmla="val 9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FBCAA"/>
                </a:solidFill>
                <a:latin typeface="Segoe UI"/>
              </a:rPr>
              <a:t>BUILT WITH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5029200"/>
            <a:ext cx="7059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029200"/>
            <a:ext cx="7059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5220" y="5029200"/>
            <a:ext cx="79004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5220" y="5029200"/>
            <a:ext cx="79004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1566" y="5029200"/>
            <a:ext cx="196778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1566" y="5029200"/>
            <a:ext cx="19677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sentence-transformers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5659" y="5029200"/>
            <a:ext cx="537667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5659" y="5029200"/>
            <a:ext cx="5376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UMAP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29630" y="5029200"/>
            <a:ext cx="79004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9630" y="5029200"/>
            <a:ext cx="79004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HDBSCAN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5976" y="5029200"/>
            <a:ext cx="121066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5029200"/>
            <a:ext cx="121066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scikit-learn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2945" y="502920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2945" y="5029200"/>
            <a:ext cx="6217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React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1041" y="5029200"/>
            <a:ext cx="7059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1041" y="5029200"/>
            <a:ext cx="7059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Plotly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3262" y="5029200"/>
            <a:ext cx="104241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3262" y="5029200"/>
            <a:ext cx="10424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PostgreSQL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559552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559552"/>
            <a:ext cx="6217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Redis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11095" y="5559552"/>
            <a:ext cx="7059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11095" y="5559552"/>
            <a:ext cx="7059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ECF2F1"/>
                </a:solidFill>
                <a:latin typeface="Segoe UI"/>
              </a:rPr>
              <a:t>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